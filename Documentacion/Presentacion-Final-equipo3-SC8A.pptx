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ton" charset="1" panose="00000500000000000000"/>
      <p:regular r:id="rId19"/>
    </p:embeddedFont>
    <p:embeddedFont>
      <p:font typeface="Agrandir Bold" charset="1" panose="00000800000000000000"/>
      <p:regular r:id="rId20"/>
    </p:embeddedFont>
    <p:embeddedFont>
      <p:font typeface="Agrandir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9405" y="3733703"/>
            <a:ext cx="9909190" cy="15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5"/>
              </a:lnSpc>
            </a:pPr>
            <a:r>
              <a:rPr lang="en-US" sz="111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EQUIPO 3 NEURO 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40436" y="5934256"/>
            <a:ext cx="5378501" cy="151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INTEGRANTES:</a:t>
            </a:r>
          </a:p>
          <a:p>
            <a:pPr algn="ctr">
              <a:lnSpc>
                <a:spcPts val="1710"/>
              </a:lnSpc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NARVAEZ MATA ALEJANDRO - 22210325</a:t>
            </a:r>
          </a:p>
          <a:p>
            <a:pPr algn="ctr">
              <a:lnSpc>
                <a:spcPts val="1710"/>
              </a:lnSpc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OCHOA MORAN VICTOR ALEJANDRO - 22210329</a:t>
            </a:r>
          </a:p>
          <a:p>
            <a:pPr algn="ctr">
              <a:lnSpc>
                <a:spcPts val="1710"/>
              </a:lnSpc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ORTEGA MEDINA ABNER NAHUM-20211819</a:t>
            </a:r>
          </a:p>
          <a:p>
            <a:pPr algn="ctr">
              <a:lnSpc>
                <a:spcPts val="1710"/>
              </a:lnSpc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HUERTA ESPINOZA DIEGO - 20212411</a:t>
            </a:r>
          </a:p>
          <a:p>
            <a:pPr algn="ctr">
              <a:lnSpc>
                <a:spcPts val="1710"/>
              </a:lnSpc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LOPEZ RODRIGUEZ ANA LUISA - 22210316</a:t>
            </a:r>
          </a:p>
          <a:p>
            <a:pPr algn="ctr">
              <a:lnSpc>
                <a:spcPts val="1710"/>
              </a:lnSpc>
              <a:spcBef>
                <a:spcPct val="0"/>
              </a:spcBef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IBARRA GARCIA RICARDO - 22211585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859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37563" y="2688655"/>
            <a:ext cx="7561347" cy="261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INTRODUCCIÓN</a:t>
            </a:r>
          </a:p>
          <a:p>
            <a:pPr algn="ctr">
              <a:lnSpc>
                <a:spcPts val="6875"/>
              </a:lnSpc>
            </a:pPr>
          </a:p>
          <a:p>
            <a:pPr algn="ctr">
              <a:lnSpc>
                <a:spcPts val="687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3541127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3940747" y="0"/>
                </a:moveTo>
                <a:lnTo>
                  <a:pt x="0" y="0"/>
                </a:lnTo>
                <a:lnTo>
                  <a:pt x="0" y="4114800"/>
                </a:lnTo>
                <a:lnTo>
                  <a:pt x="3940747" y="4114800"/>
                </a:lnTo>
                <a:lnTo>
                  <a:pt x="394074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24714" y="5064218"/>
            <a:ext cx="7787044" cy="305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Este proyecto desarrolla un sistema capaz de detectar y segmentar (delimitar automáticamente) tumores cerebrales usando imágenes médicas y una red neuronal U-Net. Además, el sistema muestra métricas clínicas, visualizaciones y reportes automáticos.</a:t>
            </a:r>
          </a:p>
          <a:p>
            <a:pPr algn="ctr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4641" y="2697780"/>
            <a:ext cx="6630779" cy="7068493"/>
          </a:xfrm>
          <a:custGeom>
            <a:avLst/>
            <a:gdLst/>
            <a:ahLst/>
            <a:cxnLst/>
            <a:rect r="r" b="b" t="t" l="l"/>
            <a:pathLst>
              <a:path h="7068493" w="6630779">
                <a:moveTo>
                  <a:pt x="0" y="0"/>
                </a:moveTo>
                <a:lnTo>
                  <a:pt x="6630779" y="0"/>
                </a:lnTo>
                <a:lnTo>
                  <a:pt x="6630779" y="7068493"/>
                </a:lnTo>
                <a:lnTo>
                  <a:pt x="0" y="7068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0886" y="3021500"/>
            <a:ext cx="7561347" cy="262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OBJETIVO GENERAL</a:t>
            </a:r>
          </a:p>
          <a:p>
            <a:pPr algn="l">
              <a:lnSpc>
                <a:spcPts val="6875"/>
              </a:lnSpc>
            </a:pPr>
          </a:p>
          <a:p>
            <a:pPr algn="l">
              <a:lnSpc>
                <a:spcPts val="687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658037" y="4417019"/>
            <a:ext cx="9728642" cy="177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esarrollar un sistema de inteligencia artificial capaz de detectar tumores cerebrales en imágenes MRI utilizando segmentación automática.</a:t>
            </a:r>
          </a:p>
          <a:p>
            <a:pPr algn="l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28905" y="2737449"/>
            <a:ext cx="3513977" cy="3086100"/>
            <a:chOff x="0" y="0"/>
            <a:chExt cx="925492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5492" cy="812800"/>
            </a:xfrm>
            <a:custGeom>
              <a:avLst/>
              <a:gdLst/>
              <a:ahLst/>
              <a:cxnLst/>
              <a:rect r="r" b="b" t="t" l="l"/>
              <a:pathLst>
                <a:path h="812800" w="925492">
                  <a:moveTo>
                    <a:pt x="112362" y="0"/>
                  </a:moveTo>
                  <a:lnTo>
                    <a:pt x="813130" y="0"/>
                  </a:lnTo>
                  <a:cubicBezTo>
                    <a:pt x="875186" y="0"/>
                    <a:pt x="925492" y="50306"/>
                    <a:pt x="925492" y="112362"/>
                  </a:cubicBezTo>
                  <a:lnTo>
                    <a:pt x="925492" y="700438"/>
                  </a:lnTo>
                  <a:cubicBezTo>
                    <a:pt x="925492" y="762494"/>
                    <a:pt x="875186" y="812800"/>
                    <a:pt x="813130" y="812800"/>
                  </a:cubicBezTo>
                  <a:lnTo>
                    <a:pt x="112362" y="812800"/>
                  </a:lnTo>
                  <a:cubicBezTo>
                    <a:pt x="50306" y="812800"/>
                    <a:pt x="0" y="762494"/>
                    <a:pt x="0" y="700438"/>
                  </a:cubicBezTo>
                  <a:lnTo>
                    <a:pt x="0" y="112362"/>
                  </a:lnTo>
                  <a:cubicBezTo>
                    <a:pt x="0" y="50306"/>
                    <a:pt x="50306" y="0"/>
                    <a:pt x="112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25492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617592" y="259363"/>
            <a:ext cx="7052816" cy="155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7"/>
              </a:lnSpc>
            </a:pPr>
            <a:r>
              <a:rPr lang="en-US" sz="5310">
                <a:solidFill>
                  <a:srgbClr val="FEFEFE"/>
                </a:solidFill>
                <a:latin typeface="Anton"/>
                <a:ea typeface="Anton"/>
                <a:cs typeface="Anton"/>
                <a:sym typeface="Anton"/>
              </a:rPr>
              <a:t> ¿POR QUÉ AUTOMATIZAR LA DETECCIÓN DE TUMORES?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9126" y="3028215"/>
            <a:ext cx="2765593" cy="220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LENTO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Lectura manual de MRI: hasta 45 min por paciente</a:t>
            </a:r>
          </a:p>
          <a:p>
            <a:pPr algn="l">
              <a:lnSpc>
                <a:spcPts val="344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193019" y="2737449"/>
            <a:ext cx="3513977" cy="3086100"/>
            <a:chOff x="0" y="0"/>
            <a:chExt cx="925492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492" cy="812800"/>
            </a:xfrm>
            <a:custGeom>
              <a:avLst/>
              <a:gdLst/>
              <a:ahLst/>
              <a:cxnLst/>
              <a:rect r="r" b="b" t="t" l="l"/>
              <a:pathLst>
                <a:path h="812800" w="925492">
                  <a:moveTo>
                    <a:pt x="112362" y="0"/>
                  </a:moveTo>
                  <a:lnTo>
                    <a:pt x="813130" y="0"/>
                  </a:lnTo>
                  <a:cubicBezTo>
                    <a:pt x="875186" y="0"/>
                    <a:pt x="925492" y="50306"/>
                    <a:pt x="925492" y="112362"/>
                  </a:cubicBezTo>
                  <a:lnTo>
                    <a:pt x="925492" y="700438"/>
                  </a:lnTo>
                  <a:cubicBezTo>
                    <a:pt x="925492" y="762494"/>
                    <a:pt x="875186" y="812800"/>
                    <a:pt x="813130" y="812800"/>
                  </a:cubicBezTo>
                  <a:lnTo>
                    <a:pt x="112362" y="812800"/>
                  </a:lnTo>
                  <a:cubicBezTo>
                    <a:pt x="50306" y="812800"/>
                    <a:pt x="0" y="762494"/>
                    <a:pt x="0" y="700438"/>
                  </a:cubicBezTo>
                  <a:lnTo>
                    <a:pt x="0" y="112362"/>
                  </a:lnTo>
                  <a:cubicBezTo>
                    <a:pt x="0" y="50306"/>
                    <a:pt x="50306" y="0"/>
                    <a:pt x="112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25492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535291" y="2863616"/>
            <a:ext cx="3000831" cy="348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VARIABLE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Diferentes radiólogos pueden interpretar una misma MRI de manera distinta.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217927" y="2737449"/>
            <a:ext cx="3513977" cy="3086100"/>
            <a:chOff x="0" y="0"/>
            <a:chExt cx="925492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5492" cy="812800"/>
            </a:xfrm>
            <a:custGeom>
              <a:avLst/>
              <a:gdLst/>
              <a:ahLst/>
              <a:cxnLst/>
              <a:rect r="r" b="b" t="t" l="l"/>
              <a:pathLst>
                <a:path h="812800" w="925492">
                  <a:moveTo>
                    <a:pt x="112362" y="0"/>
                  </a:moveTo>
                  <a:lnTo>
                    <a:pt x="813130" y="0"/>
                  </a:lnTo>
                  <a:cubicBezTo>
                    <a:pt x="875186" y="0"/>
                    <a:pt x="925492" y="50306"/>
                    <a:pt x="925492" y="112362"/>
                  </a:cubicBezTo>
                  <a:lnTo>
                    <a:pt x="925492" y="700438"/>
                  </a:lnTo>
                  <a:cubicBezTo>
                    <a:pt x="925492" y="762494"/>
                    <a:pt x="875186" y="812800"/>
                    <a:pt x="813130" y="812800"/>
                  </a:cubicBezTo>
                  <a:lnTo>
                    <a:pt x="112362" y="812800"/>
                  </a:lnTo>
                  <a:cubicBezTo>
                    <a:pt x="50306" y="812800"/>
                    <a:pt x="0" y="762494"/>
                    <a:pt x="0" y="700438"/>
                  </a:cubicBezTo>
                  <a:lnTo>
                    <a:pt x="0" y="112362"/>
                  </a:lnTo>
                  <a:cubicBezTo>
                    <a:pt x="0" y="50306"/>
                    <a:pt x="50306" y="0"/>
                    <a:pt x="112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25492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45118" y="2973756"/>
            <a:ext cx="3259593" cy="263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ESCASEZ</a:t>
            </a:r>
          </a:p>
          <a:p>
            <a:pPr algn="ctr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&lt; 1 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radiólogo por cada 50,000 personas en América Latina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428905" y="6023574"/>
            <a:ext cx="3513977" cy="3086100"/>
            <a:chOff x="0" y="0"/>
            <a:chExt cx="92549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5492" cy="812800"/>
            </a:xfrm>
            <a:custGeom>
              <a:avLst/>
              <a:gdLst/>
              <a:ahLst/>
              <a:cxnLst/>
              <a:rect r="r" b="b" t="t" l="l"/>
              <a:pathLst>
                <a:path h="812800" w="925492">
                  <a:moveTo>
                    <a:pt x="112362" y="0"/>
                  </a:moveTo>
                  <a:lnTo>
                    <a:pt x="813130" y="0"/>
                  </a:lnTo>
                  <a:cubicBezTo>
                    <a:pt x="875186" y="0"/>
                    <a:pt x="925492" y="50306"/>
                    <a:pt x="925492" y="112362"/>
                  </a:cubicBezTo>
                  <a:lnTo>
                    <a:pt x="925492" y="700438"/>
                  </a:lnTo>
                  <a:cubicBezTo>
                    <a:pt x="925492" y="762494"/>
                    <a:pt x="875186" y="812800"/>
                    <a:pt x="813130" y="812800"/>
                  </a:cubicBezTo>
                  <a:lnTo>
                    <a:pt x="112362" y="812800"/>
                  </a:lnTo>
                  <a:cubicBezTo>
                    <a:pt x="50306" y="812800"/>
                    <a:pt x="0" y="762494"/>
                    <a:pt x="0" y="700438"/>
                  </a:cubicBezTo>
                  <a:lnTo>
                    <a:pt x="0" y="112362"/>
                  </a:lnTo>
                  <a:cubicBezTo>
                    <a:pt x="0" y="50306"/>
                    <a:pt x="50306" y="0"/>
                    <a:pt x="112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25492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28905" y="6246967"/>
            <a:ext cx="3513977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INCIDENCIA</a:t>
            </a:r>
          </a:p>
          <a:p>
            <a:pPr algn="ctr">
              <a:lnSpc>
                <a:spcPts val="3440"/>
              </a:lnSpc>
            </a:pPr>
          </a:p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+300 mil casos/año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278718" y="6023574"/>
            <a:ext cx="3513977" cy="3086100"/>
            <a:chOff x="0" y="0"/>
            <a:chExt cx="925492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5492" cy="812800"/>
            </a:xfrm>
            <a:custGeom>
              <a:avLst/>
              <a:gdLst/>
              <a:ahLst/>
              <a:cxnLst/>
              <a:rect r="r" b="b" t="t" l="l"/>
              <a:pathLst>
                <a:path h="812800" w="925492">
                  <a:moveTo>
                    <a:pt x="112362" y="0"/>
                  </a:moveTo>
                  <a:lnTo>
                    <a:pt x="813130" y="0"/>
                  </a:lnTo>
                  <a:cubicBezTo>
                    <a:pt x="875186" y="0"/>
                    <a:pt x="925492" y="50306"/>
                    <a:pt x="925492" y="112362"/>
                  </a:cubicBezTo>
                  <a:lnTo>
                    <a:pt x="925492" y="700438"/>
                  </a:lnTo>
                  <a:cubicBezTo>
                    <a:pt x="925492" y="762494"/>
                    <a:pt x="875186" y="812800"/>
                    <a:pt x="813130" y="812800"/>
                  </a:cubicBezTo>
                  <a:lnTo>
                    <a:pt x="112362" y="812800"/>
                  </a:lnTo>
                  <a:cubicBezTo>
                    <a:pt x="50306" y="812800"/>
                    <a:pt x="0" y="762494"/>
                    <a:pt x="0" y="700438"/>
                  </a:cubicBezTo>
                  <a:lnTo>
                    <a:pt x="0" y="112362"/>
                  </a:lnTo>
                  <a:cubicBezTo>
                    <a:pt x="0" y="50306"/>
                    <a:pt x="50306" y="0"/>
                    <a:pt x="112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25492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5118" y="6023574"/>
            <a:ext cx="3513977" cy="3086100"/>
            <a:chOff x="0" y="0"/>
            <a:chExt cx="925492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5492" cy="812800"/>
            </a:xfrm>
            <a:custGeom>
              <a:avLst/>
              <a:gdLst/>
              <a:ahLst/>
              <a:cxnLst/>
              <a:rect r="r" b="b" t="t" l="l"/>
              <a:pathLst>
                <a:path h="812800" w="925492">
                  <a:moveTo>
                    <a:pt x="112362" y="0"/>
                  </a:moveTo>
                  <a:lnTo>
                    <a:pt x="813130" y="0"/>
                  </a:lnTo>
                  <a:cubicBezTo>
                    <a:pt x="875186" y="0"/>
                    <a:pt x="925492" y="50306"/>
                    <a:pt x="925492" y="112362"/>
                  </a:cubicBezTo>
                  <a:lnTo>
                    <a:pt x="925492" y="700438"/>
                  </a:lnTo>
                  <a:cubicBezTo>
                    <a:pt x="925492" y="762494"/>
                    <a:pt x="875186" y="812800"/>
                    <a:pt x="813130" y="812800"/>
                  </a:cubicBezTo>
                  <a:lnTo>
                    <a:pt x="112362" y="812800"/>
                  </a:lnTo>
                  <a:cubicBezTo>
                    <a:pt x="50306" y="812800"/>
                    <a:pt x="0" y="762494"/>
                    <a:pt x="0" y="700438"/>
                  </a:cubicBezTo>
                  <a:lnTo>
                    <a:pt x="0" y="112362"/>
                  </a:lnTo>
                  <a:cubicBezTo>
                    <a:pt x="0" y="50306"/>
                    <a:pt x="50306" y="0"/>
                    <a:pt x="112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25492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365595" y="6256492"/>
            <a:ext cx="3341401" cy="249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sz="2441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TASA DE SUPERVIVENCIA</a:t>
            </a:r>
          </a:p>
          <a:p>
            <a:pPr algn="ctr">
              <a:lnSpc>
                <a:spcPts val="3271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detección temprana aumenta la tasa de supervivencia hasta un 70%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5118" y="6246967"/>
            <a:ext cx="3513977" cy="220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TIEMPO DE INFERENCIA</a:t>
            </a:r>
          </a:p>
          <a:p>
            <a:pPr algn="ctr">
              <a:lnSpc>
                <a:spcPts val="3440"/>
              </a:lnSpc>
            </a:pPr>
          </a:p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IA analiza en segundos</a:t>
            </a:r>
          </a:p>
          <a:p>
            <a:pPr algn="ctr">
              <a:lnSpc>
                <a:spcPts val="34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62930" y="2893222"/>
            <a:ext cx="4144557" cy="989754"/>
            <a:chOff x="0" y="0"/>
            <a:chExt cx="1017514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2267" y="3215540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79394" y="4579728"/>
            <a:ext cx="3894362" cy="349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OBJETIVOS ESPECÍFICOS</a:t>
            </a:r>
          </a:p>
          <a:p>
            <a:pPr algn="l">
              <a:lnSpc>
                <a:spcPts val="6875"/>
              </a:lnSpc>
            </a:pPr>
          </a:p>
          <a:p>
            <a:pPr algn="l">
              <a:lnSpc>
                <a:spcPts val="687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799141" y="2843676"/>
            <a:ext cx="2173187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Proces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ar Imágenes MRI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1812" y="3008863"/>
            <a:ext cx="4308529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Carga y análisis de archivos NI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fTI (.nii)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62930" y="2893222"/>
            <a:ext cx="1081897" cy="989754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847478" y="306837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62930" y="4407752"/>
            <a:ext cx="4144557" cy="989754"/>
            <a:chOff x="0" y="0"/>
            <a:chExt cx="1017514" cy="242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99141" y="4467484"/>
            <a:ext cx="2173187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Diseñar la Red U-NET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21812" y="4370178"/>
            <a:ext cx="4308529" cy="134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Creación de la arquitectura de IA para segmentación</a:t>
            </a:r>
          </a:p>
          <a:p>
            <a:pPr algn="l">
              <a:lnSpc>
                <a:spcPts val="3440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7562930" y="4407752"/>
            <a:ext cx="1081897" cy="989754"/>
            <a:chOff x="0" y="0"/>
            <a:chExt cx="265612" cy="242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847478" y="452876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62930" y="5814008"/>
            <a:ext cx="4144557" cy="989754"/>
            <a:chOff x="0" y="0"/>
            <a:chExt cx="1017514" cy="242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799141" y="5905345"/>
            <a:ext cx="2611378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Entrenar el modelo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1812" y="5731492"/>
            <a:ext cx="4308529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Entrenamiento usando la base de datos BraTS 2021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562930" y="5814008"/>
            <a:ext cx="1081897" cy="989754"/>
            <a:chOff x="0" y="0"/>
            <a:chExt cx="265612" cy="2429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847478" y="5989160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62930" y="7274401"/>
            <a:ext cx="4144557" cy="989754"/>
            <a:chOff x="0" y="0"/>
            <a:chExt cx="1017514" cy="242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799141" y="7337163"/>
            <a:ext cx="2842005" cy="141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Detectar y Analizar Tumores</a:t>
            </a:r>
          </a:p>
          <a:p>
            <a:pPr algn="l">
              <a:lnSpc>
                <a:spcPts val="2670"/>
              </a:lnSpc>
            </a:pPr>
          </a:p>
          <a:p>
            <a:pPr algn="l">
              <a:lnSpc>
                <a:spcPts val="267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2021812" y="7521431"/>
            <a:ext cx="5066677" cy="9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Segmentación, métricas y generación de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reportes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562930" y="7274401"/>
            <a:ext cx="1081897" cy="989754"/>
            <a:chOff x="0" y="0"/>
            <a:chExt cx="265612" cy="2429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847478" y="744955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3227148"/>
            <a:ext cx="6983912" cy="6189492"/>
          </a:xfrm>
          <a:custGeom>
            <a:avLst/>
            <a:gdLst/>
            <a:ahLst/>
            <a:cxnLst/>
            <a:rect r="r" b="b" t="t" l="l"/>
            <a:pathLst>
              <a:path h="6189492" w="6983912">
                <a:moveTo>
                  <a:pt x="0" y="0"/>
                </a:moveTo>
                <a:lnTo>
                  <a:pt x="6983912" y="0"/>
                </a:lnTo>
                <a:lnTo>
                  <a:pt x="6983912" y="6189492"/>
                </a:lnTo>
                <a:lnTo>
                  <a:pt x="0" y="6189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08275" y="426246"/>
            <a:ext cx="7561347" cy="17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DESARROLLO</a:t>
            </a:r>
          </a:p>
          <a:p>
            <a:pPr algn="ctr">
              <a:lnSpc>
                <a:spcPts val="68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914866" y="4529769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350" y="3151109"/>
            <a:ext cx="7748650" cy="594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1. Procesamiento de imágenes</a:t>
            </a:r>
          </a:p>
          <a:p>
            <a:pPr algn="l">
              <a:lnSpc>
                <a:spcPts val="4273"/>
              </a:lnSpc>
              <a:spcBef>
                <a:spcPct val="0"/>
              </a:spcBef>
            </a:pPr>
          </a:p>
          <a:p>
            <a:pPr algn="l" marL="688578" indent="-344289" lvl="1">
              <a:lnSpc>
                <a:spcPts val="4273"/>
              </a:lnSpc>
              <a:spcBef>
                <a:spcPct val="0"/>
              </a:spcBef>
              <a:buFont typeface="Arial"/>
              <a:buChar char="•"/>
            </a:pPr>
            <a:r>
              <a:rPr lang="en-US" sz="3189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Las imágenes MRI fueron cargadas y divididas en slices (cortes del cerebro).</a:t>
            </a:r>
          </a:p>
          <a:p>
            <a:pPr algn="l" marL="688578" indent="-344289" lvl="1">
              <a:lnSpc>
                <a:spcPts val="4273"/>
              </a:lnSpc>
              <a:spcBef>
                <a:spcPct val="0"/>
              </a:spcBef>
              <a:buFont typeface="Arial"/>
              <a:buChar char="•"/>
            </a:pPr>
            <a:r>
              <a:rPr lang="en-US" sz="3189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Después se aplicaron técnicas como:</a:t>
            </a:r>
          </a:p>
          <a:p>
            <a:pPr algn="l" marL="688578" indent="-344289" lvl="1">
              <a:lnSpc>
                <a:spcPts val="4273"/>
              </a:lnSpc>
              <a:spcBef>
                <a:spcPct val="0"/>
              </a:spcBef>
              <a:buFont typeface="Arial"/>
              <a:buChar char="•"/>
            </a:pPr>
            <a:r>
              <a:rPr lang="en-US" sz="3189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Normalización (ajustar intensidades)</a:t>
            </a:r>
          </a:p>
          <a:p>
            <a:pPr algn="l" marL="688578" indent="-344289" lvl="1">
              <a:lnSpc>
                <a:spcPts val="4273"/>
              </a:lnSpc>
              <a:spcBef>
                <a:spcPct val="0"/>
              </a:spcBef>
              <a:buFont typeface="Arial"/>
              <a:buChar char="•"/>
            </a:pPr>
            <a:r>
              <a:rPr lang="en-US" sz="3189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Redimensionamiento</a:t>
            </a:r>
          </a:p>
          <a:p>
            <a:pPr algn="l" marL="688578" indent="-344289" lvl="1">
              <a:lnSpc>
                <a:spcPts val="4273"/>
              </a:lnSpc>
              <a:spcBef>
                <a:spcPct val="0"/>
              </a:spcBef>
              <a:buFont typeface="Arial"/>
              <a:buChar char="•"/>
            </a:pPr>
            <a:r>
              <a:rPr lang="en-US" sz="3189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Augmentación de datos (crear variaciones de imágenes)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85972" y="3613149"/>
            <a:ext cx="8989462" cy="5417490"/>
          </a:xfrm>
          <a:custGeom>
            <a:avLst/>
            <a:gdLst/>
            <a:ahLst/>
            <a:cxnLst/>
            <a:rect r="r" b="b" t="t" l="l"/>
            <a:pathLst>
              <a:path h="5417490" w="8989462">
                <a:moveTo>
                  <a:pt x="0" y="0"/>
                </a:moveTo>
                <a:lnTo>
                  <a:pt x="8989462" y="0"/>
                </a:lnTo>
                <a:lnTo>
                  <a:pt x="8989462" y="5417490"/>
                </a:lnTo>
                <a:lnTo>
                  <a:pt x="0" y="5417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63327" y="426246"/>
            <a:ext cx="7561347" cy="17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DESARROLLO</a:t>
            </a:r>
          </a:p>
          <a:p>
            <a:pPr algn="ctr">
              <a:lnSpc>
                <a:spcPts val="68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914866" y="4529769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960192"/>
            <a:ext cx="7657272" cy="587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  <a:spcBef>
                <a:spcPct val="0"/>
              </a:spcBef>
            </a:pPr>
            <a:r>
              <a:rPr lang="en-US" sz="3151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2. Entrenamiento de la IA</a:t>
            </a:r>
          </a:p>
          <a:p>
            <a:pPr algn="l">
              <a:lnSpc>
                <a:spcPts val="4223"/>
              </a:lnSpc>
              <a:spcBef>
                <a:spcPct val="0"/>
              </a:spcBef>
            </a:pPr>
          </a:p>
          <a:p>
            <a:pPr algn="l" marL="680458" indent="-340229" lvl="1">
              <a:lnSpc>
                <a:spcPts val="4223"/>
              </a:lnSpc>
              <a:spcBef>
                <a:spcPct val="0"/>
              </a:spcBef>
              <a:buFont typeface="Arial"/>
              <a:buChar char="•"/>
            </a:pPr>
            <a:r>
              <a:rPr lang="en-US" sz="3151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Se entrenó una red neuronal U-Net usando imágenes reales de tumores cerebrales.</a:t>
            </a:r>
          </a:p>
          <a:p>
            <a:pPr algn="l" marL="680458" indent="-340229" lvl="1">
              <a:lnSpc>
                <a:spcPts val="4223"/>
              </a:lnSpc>
              <a:spcBef>
                <a:spcPct val="0"/>
              </a:spcBef>
              <a:buFont typeface="Arial"/>
              <a:buChar char="•"/>
            </a:pPr>
            <a:r>
              <a:rPr lang="en-US" sz="3151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Se utilizaron técnicas como:</a:t>
            </a:r>
          </a:p>
          <a:p>
            <a:pPr algn="l" marL="680458" indent="-340229" lvl="1">
              <a:lnSpc>
                <a:spcPts val="4223"/>
              </a:lnSpc>
              <a:spcBef>
                <a:spcPct val="0"/>
              </a:spcBef>
              <a:buFont typeface="Arial"/>
              <a:buChar char="•"/>
            </a:pPr>
            <a:r>
              <a:rPr lang="en-US" sz="3151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Dice Loss (métrica de segmentación)</a:t>
            </a:r>
          </a:p>
          <a:p>
            <a:pPr algn="l" marL="680458" indent="-340229" lvl="1">
              <a:lnSpc>
                <a:spcPts val="4223"/>
              </a:lnSpc>
              <a:spcBef>
                <a:spcPct val="0"/>
              </a:spcBef>
              <a:buFont typeface="Arial"/>
              <a:buChar char="•"/>
            </a:pPr>
            <a:r>
              <a:rPr lang="en-US" sz="3151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BCE Loss (función de error)</a:t>
            </a:r>
          </a:p>
          <a:p>
            <a:pPr algn="l" marL="680458" indent="-340229" lvl="1">
              <a:lnSpc>
                <a:spcPts val="4223"/>
              </a:lnSpc>
              <a:spcBef>
                <a:spcPct val="0"/>
              </a:spcBef>
              <a:buFont typeface="Arial"/>
              <a:buChar char="•"/>
            </a:pPr>
            <a:r>
              <a:rPr lang="en-US" sz="3151" strike="noStrike" u="none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Early Stopping (detener entrenamiento para evitar sobreajuste)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60839" y="1864521"/>
            <a:ext cx="4168165" cy="4476609"/>
          </a:xfrm>
          <a:custGeom>
            <a:avLst/>
            <a:gdLst/>
            <a:ahLst/>
            <a:cxnLst/>
            <a:rect r="r" b="b" t="t" l="l"/>
            <a:pathLst>
              <a:path h="4476609" w="4168165">
                <a:moveTo>
                  <a:pt x="0" y="0"/>
                </a:moveTo>
                <a:lnTo>
                  <a:pt x="4168165" y="0"/>
                </a:lnTo>
                <a:lnTo>
                  <a:pt x="4168165" y="4476609"/>
                </a:lnTo>
                <a:lnTo>
                  <a:pt x="0" y="4476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1864521"/>
            <a:ext cx="4191969" cy="4476609"/>
          </a:xfrm>
          <a:custGeom>
            <a:avLst/>
            <a:gdLst/>
            <a:ahLst/>
            <a:cxnLst/>
            <a:rect r="r" b="b" t="t" l="l"/>
            <a:pathLst>
              <a:path h="4476609" w="4191969">
                <a:moveTo>
                  <a:pt x="0" y="0"/>
                </a:moveTo>
                <a:lnTo>
                  <a:pt x="4191969" y="0"/>
                </a:lnTo>
                <a:lnTo>
                  <a:pt x="4191969" y="4476609"/>
                </a:lnTo>
                <a:lnTo>
                  <a:pt x="0" y="4476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63327" y="426246"/>
            <a:ext cx="7561347" cy="17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DESARROLLO</a:t>
            </a:r>
          </a:p>
          <a:p>
            <a:pPr algn="ctr">
              <a:lnSpc>
                <a:spcPts val="68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914866" y="4529769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45" y="2254555"/>
            <a:ext cx="10926568" cy="700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3. Predicción y análisis clínico</a:t>
            </a:r>
          </a:p>
          <a:p>
            <a:pPr algn="l">
              <a:lnSpc>
                <a:spcPts val="4271"/>
              </a:lnSpc>
            </a:pPr>
          </a:p>
          <a:p>
            <a:pPr algn="l">
              <a:lnSpc>
                <a:spcPts val="4271"/>
              </a:lnSpc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Una vez entrenado el modelo, el sistema puede:</a:t>
            </a:r>
          </a:p>
          <a:p>
            <a:pPr algn="l" marL="688144" indent="-344072" lvl="1">
              <a:lnSpc>
                <a:spcPts val="4271"/>
              </a:lnSpc>
              <a:buFont typeface="Arial"/>
              <a:buChar char="•"/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Detectar la presencia de tumor.</a:t>
            </a:r>
          </a:p>
          <a:p>
            <a:pPr algn="l" marL="688144" indent="-344072" lvl="1">
              <a:lnSpc>
                <a:spcPts val="4271"/>
              </a:lnSpc>
              <a:buFont typeface="Arial"/>
              <a:buChar char="•"/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Resaltar la región tumoral.</a:t>
            </a:r>
          </a:p>
          <a:p>
            <a:pPr algn="l" marL="688144" indent="-344072" lvl="1">
              <a:lnSpc>
                <a:spcPts val="4271"/>
              </a:lnSpc>
              <a:buFont typeface="Arial"/>
              <a:buChar char="•"/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Calcular volumen aproximado.</a:t>
            </a:r>
          </a:p>
          <a:p>
            <a:pPr algn="l" marL="688144" indent="-344072" lvl="1">
              <a:lnSpc>
                <a:spcPts val="4271"/>
              </a:lnSpc>
              <a:buFont typeface="Arial"/>
              <a:buChar char="•"/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Calcular diámetro.</a:t>
            </a:r>
          </a:p>
          <a:p>
            <a:pPr algn="l" marL="688144" indent="-344072" lvl="1">
              <a:lnSpc>
                <a:spcPts val="4271"/>
              </a:lnSpc>
              <a:buFont typeface="Arial"/>
              <a:buChar char="•"/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Determinar nivel de riesgo.</a:t>
            </a:r>
          </a:p>
          <a:p>
            <a:pPr algn="l" marL="688144" indent="-344072" lvl="1">
              <a:lnSpc>
                <a:spcPts val="4271"/>
              </a:lnSpc>
              <a:buFont typeface="Arial"/>
              <a:buChar char="•"/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Mostrar confianza de la IA.</a:t>
            </a:r>
          </a:p>
          <a:p>
            <a:pPr algn="l">
              <a:lnSpc>
                <a:spcPts val="4271"/>
              </a:lnSpc>
            </a:pPr>
            <a:r>
              <a:rPr lang="en-US" sz="318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El sistema selecciona automáticamente el slice con mayor activación tumoral para mostrar la visualización más representativa.</a:t>
            </a:r>
          </a:p>
          <a:p>
            <a:pPr algn="l">
              <a:lnSpc>
                <a:spcPts val="42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43457" y="3580808"/>
            <a:ext cx="5815843" cy="4800714"/>
          </a:xfrm>
          <a:custGeom>
            <a:avLst/>
            <a:gdLst/>
            <a:ahLst/>
            <a:cxnLst/>
            <a:rect r="r" b="b" t="t" l="l"/>
            <a:pathLst>
              <a:path h="4800714" w="5815843">
                <a:moveTo>
                  <a:pt x="0" y="0"/>
                </a:moveTo>
                <a:lnTo>
                  <a:pt x="5815843" y="0"/>
                </a:lnTo>
                <a:lnTo>
                  <a:pt x="5815843" y="4800714"/>
                </a:lnTo>
                <a:lnTo>
                  <a:pt x="0" y="4800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37113" y="3844082"/>
            <a:ext cx="847169" cy="847169"/>
          </a:xfrm>
          <a:custGeom>
            <a:avLst/>
            <a:gdLst/>
            <a:ahLst/>
            <a:cxnLst/>
            <a:rect r="r" b="b" t="t" l="l"/>
            <a:pathLst>
              <a:path h="847169" w="847169">
                <a:moveTo>
                  <a:pt x="0" y="0"/>
                </a:moveTo>
                <a:lnTo>
                  <a:pt x="847169" y="0"/>
                </a:lnTo>
                <a:lnTo>
                  <a:pt x="847169" y="847169"/>
                </a:lnTo>
                <a:lnTo>
                  <a:pt x="0" y="8471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24211" y="3844082"/>
            <a:ext cx="701033" cy="847169"/>
          </a:xfrm>
          <a:custGeom>
            <a:avLst/>
            <a:gdLst/>
            <a:ahLst/>
            <a:cxnLst/>
            <a:rect r="r" b="b" t="t" l="l"/>
            <a:pathLst>
              <a:path h="847169" w="701033">
                <a:moveTo>
                  <a:pt x="0" y="0"/>
                </a:moveTo>
                <a:lnTo>
                  <a:pt x="701033" y="0"/>
                </a:lnTo>
                <a:lnTo>
                  <a:pt x="701033" y="847169"/>
                </a:lnTo>
                <a:lnTo>
                  <a:pt x="0" y="8471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51379" y="3844082"/>
            <a:ext cx="2433932" cy="958361"/>
          </a:xfrm>
          <a:custGeom>
            <a:avLst/>
            <a:gdLst/>
            <a:ahLst/>
            <a:cxnLst/>
            <a:rect r="r" b="b" t="t" l="l"/>
            <a:pathLst>
              <a:path h="958361" w="2433932">
                <a:moveTo>
                  <a:pt x="0" y="0"/>
                </a:moveTo>
                <a:lnTo>
                  <a:pt x="2433932" y="0"/>
                </a:lnTo>
                <a:lnTo>
                  <a:pt x="2433932" y="958361"/>
                </a:lnTo>
                <a:lnTo>
                  <a:pt x="0" y="9583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05194" y="5295768"/>
            <a:ext cx="1111008" cy="1111008"/>
          </a:xfrm>
          <a:custGeom>
            <a:avLst/>
            <a:gdLst/>
            <a:ahLst/>
            <a:cxnLst/>
            <a:rect r="r" b="b" t="t" l="l"/>
            <a:pathLst>
              <a:path h="1111008" w="1111008">
                <a:moveTo>
                  <a:pt x="0" y="0"/>
                </a:moveTo>
                <a:lnTo>
                  <a:pt x="1111007" y="0"/>
                </a:lnTo>
                <a:lnTo>
                  <a:pt x="1111007" y="1111008"/>
                </a:lnTo>
                <a:lnTo>
                  <a:pt x="0" y="11110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24211" y="5295768"/>
            <a:ext cx="1031122" cy="1269998"/>
          </a:xfrm>
          <a:custGeom>
            <a:avLst/>
            <a:gdLst/>
            <a:ahLst/>
            <a:cxnLst/>
            <a:rect r="r" b="b" t="t" l="l"/>
            <a:pathLst>
              <a:path h="1269998" w="1031122">
                <a:moveTo>
                  <a:pt x="0" y="0"/>
                </a:moveTo>
                <a:lnTo>
                  <a:pt x="1031122" y="0"/>
                </a:lnTo>
                <a:lnTo>
                  <a:pt x="1031122" y="1269999"/>
                </a:lnTo>
                <a:lnTo>
                  <a:pt x="0" y="12699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210892" y="5252041"/>
            <a:ext cx="2714906" cy="1357453"/>
          </a:xfrm>
          <a:custGeom>
            <a:avLst/>
            <a:gdLst/>
            <a:ahLst/>
            <a:cxnLst/>
            <a:rect r="r" b="b" t="t" l="l"/>
            <a:pathLst>
              <a:path h="1357453" w="2714906">
                <a:moveTo>
                  <a:pt x="0" y="0"/>
                </a:moveTo>
                <a:lnTo>
                  <a:pt x="2714906" y="0"/>
                </a:lnTo>
                <a:lnTo>
                  <a:pt x="2714906" y="1357453"/>
                </a:lnTo>
                <a:lnTo>
                  <a:pt x="0" y="13574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7886" y="2072947"/>
            <a:ext cx="10256947" cy="759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Lenguajes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Python</a:t>
            </a: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Frameworks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PyTorch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Tkinter</a:t>
            </a: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Librerías principales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OpenCV → procesamiento de imágenes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NiBabel → lectura de archivos NIfTI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Scikit-learn → división de datasets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FPDF → generación de reportes PDF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PIL/Pillow → manejo de imágenes</a:t>
            </a:r>
          </a:p>
          <a:p>
            <a:pPr algn="l" marL="648453" indent="-324226" lvl="1">
              <a:lnSpc>
                <a:spcPts val="4024"/>
              </a:lnSpc>
              <a:buFont typeface="Arial"/>
              <a:buChar char="•"/>
            </a:pPr>
            <a:r>
              <a:rPr lang="en-US" sz="3003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Torch → entrenamiento del modelo IA</a:t>
            </a:r>
          </a:p>
          <a:p>
            <a:pPr algn="l">
              <a:lnSpc>
                <a:spcPts val="402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206150" y="426246"/>
            <a:ext cx="7875700" cy="262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TECNOLOGÍAS UTILIZADAS</a:t>
            </a:r>
          </a:p>
          <a:p>
            <a:pPr algn="l">
              <a:lnSpc>
                <a:spcPts val="6875"/>
              </a:lnSpc>
            </a:pPr>
          </a:p>
          <a:p>
            <a:pPr algn="l">
              <a:lnSpc>
                <a:spcPts val="687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08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57067" y="2297788"/>
            <a:ext cx="12177092" cy="2952454"/>
          </a:xfrm>
          <a:custGeom>
            <a:avLst/>
            <a:gdLst/>
            <a:ahLst/>
            <a:cxnLst/>
            <a:rect r="r" b="b" t="t" l="l"/>
            <a:pathLst>
              <a:path h="2952454" w="12177092">
                <a:moveTo>
                  <a:pt x="0" y="0"/>
                </a:moveTo>
                <a:lnTo>
                  <a:pt x="12177093" y="0"/>
                </a:lnTo>
                <a:lnTo>
                  <a:pt x="12177093" y="2952454"/>
                </a:lnTo>
                <a:lnTo>
                  <a:pt x="0" y="295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74" r="0" b="-387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64940" y="524419"/>
            <a:ext cx="7561347" cy="82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5"/>
              </a:lnSpc>
            </a:pPr>
            <a:r>
              <a:rPr lang="en-US" sz="61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BASE DE DATOS UTILIZADA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10822" y="5770174"/>
            <a:ext cx="9266357" cy="348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Se utilizó BraTS 2021.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Esta base de datos contiene: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Resonancias magnéticas reales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Máscaras de tumores hechas por especialistas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Diferentes tipos de tumores cerebrales</a:t>
            </a:r>
          </a:p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Es una de las bases de datos más usadas en investigación médica con IA.</a:t>
            </a:r>
          </a:p>
          <a:p>
            <a:pPr algn="l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15873" y="3828160"/>
            <a:ext cx="7321154" cy="4877719"/>
          </a:xfrm>
          <a:custGeom>
            <a:avLst/>
            <a:gdLst/>
            <a:ahLst/>
            <a:cxnLst/>
            <a:rect r="r" b="b" t="t" l="l"/>
            <a:pathLst>
              <a:path h="4877719" w="7321154">
                <a:moveTo>
                  <a:pt x="0" y="0"/>
                </a:moveTo>
                <a:lnTo>
                  <a:pt x="7321154" y="0"/>
                </a:lnTo>
                <a:lnTo>
                  <a:pt x="7321154" y="4877719"/>
                </a:lnTo>
                <a:lnTo>
                  <a:pt x="0" y="4877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41421" y="606968"/>
            <a:ext cx="7561347" cy="261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MODELO DE IA UTILIZADO</a:t>
            </a:r>
          </a:p>
          <a:p>
            <a:pPr algn="ctr">
              <a:lnSpc>
                <a:spcPts val="6875"/>
              </a:lnSpc>
            </a:pPr>
          </a:p>
          <a:p>
            <a:pPr algn="ctr">
              <a:lnSpc>
                <a:spcPts val="687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8574" y="3242710"/>
            <a:ext cx="10869342" cy="546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1"/>
              </a:lnSpc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Se ut</a:t>
            </a: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ilizó U-Net, una red neuronal convolucional (CNN: modelo especializado en imágenes).</a:t>
            </a:r>
          </a:p>
          <a:p>
            <a:pPr algn="l">
              <a:lnSpc>
                <a:spcPts val="3941"/>
              </a:lnSpc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¿Por qué U-Net?</a:t>
            </a:r>
          </a:p>
          <a:p>
            <a:pPr algn="l" marL="634988" indent="-317494" lvl="1">
              <a:lnSpc>
                <a:spcPts val="3941"/>
              </a:lnSpc>
              <a:buFont typeface="Arial"/>
              <a:buChar char="•"/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Tiene alta precisión en segmentación médica.</a:t>
            </a:r>
          </a:p>
          <a:p>
            <a:pPr algn="l" marL="634988" indent="-317494" lvl="1">
              <a:lnSpc>
                <a:spcPts val="3941"/>
              </a:lnSpc>
              <a:buFont typeface="Arial"/>
              <a:buChar char="•"/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Funciona bien con imágenes cerebrales.</a:t>
            </a:r>
          </a:p>
          <a:p>
            <a:pPr algn="l" marL="634988" indent="-317494" lvl="1">
              <a:lnSpc>
                <a:spcPts val="3941"/>
              </a:lnSpc>
              <a:buFont typeface="Arial"/>
              <a:buChar char="•"/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Detecta tumores pequeños.</a:t>
            </a:r>
          </a:p>
          <a:p>
            <a:pPr algn="l" marL="634988" indent="-317494" lvl="1">
              <a:lnSpc>
                <a:spcPts val="3941"/>
              </a:lnSpc>
              <a:buFont typeface="Arial"/>
              <a:buChar char="•"/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Conserva detalles importantes de la imagen.</a:t>
            </a:r>
          </a:p>
          <a:p>
            <a:pPr algn="l" marL="634988" indent="-317494" lvl="1">
              <a:lnSpc>
                <a:spcPts val="3941"/>
              </a:lnSpc>
              <a:buFont typeface="Arial"/>
              <a:buChar char="•"/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Es uno de los modelos más usados en medicina.</a:t>
            </a:r>
          </a:p>
          <a:p>
            <a:pPr algn="l">
              <a:lnSpc>
                <a:spcPts val="3941"/>
              </a:lnSpc>
            </a:pPr>
            <a:r>
              <a:rPr lang="en-US" sz="2941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U-Net utiliza encoder (extrae características) y decoder (reconstruye la segmentación).</a:t>
            </a:r>
          </a:p>
          <a:p>
            <a:pPr algn="l">
              <a:lnSpc>
                <a:spcPts val="394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188165" y="601968"/>
            <a:ext cx="7875700" cy="262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CONCLUSIÓN</a:t>
            </a:r>
          </a:p>
          <a:p>
            <a:pPr algn="l">
              <a:lnSpc>
                <a:spcPts val="6875"/>
              </a:lnSpc>
            </a:pPr>
          </a:p>
          <a:p>
            <a:pPr algn="l">
              <a:lnSpc>
                <a:spcPts val="68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71782" y="2742360"/>
            <a:ext cx="10135517" cy="54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2950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2950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 desarrolló un sistema capaz de detectar y segmentar tumores cerebrales utilizando inteligencia artificial.</a:t>
            </a:r>
          </a:p>
          <a:p>
            <a:pPr algn="l">
              <a:lnSpc>
                <a:spcPts val="3953"/>
              </a:lnSpc>
            </a:pPr>
            <a:r>
              <a:rPr lang="en-US" sz="2950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El proyecto combina procesamiento de imágenes, aprendizaje profundo (Deep Learning) y una interfaz gráfica moderna para facilitar el análisis de resonancias magnéticas.</a:t>
            </a:r>
          </a:p>
          <a:p>
            <a:pPr algn="l">
              <a:lnSpc>
                <a:spcPts val="3953"/>
              </a:lnSpc>
            </a:pPr>
            <a:r>
              <a:rPr lang="en-US" sz="2950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Aunque no reemplaza a un médico especialista, puede servir como herramienta de apoyo para mejorar velocidad y visualización de resultados.</a:t>
            </a:r>
          </a:p>
          <a:p>
            <a:pPr algn="l">
              <a:lnSpc>
                <a:spcPts val="3953"/>
              </a:lnSpc>
            </a:pPr>
          </a:p>
          <a:p>
            <a:pPr algn="l">
              <a:lnSpc>
                <a:spcPts val="395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58400" y="186452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578" y="-1201787"/>
            <a:ext cx="13008829" cy="130088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0"/>
                  </a:srgbClr>
                </a:gs>
                <a:gs pos="100000">
                  <a:srgbClr val="FFFFFF">
                    <a:alpha val="77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52057" y="1217961"/>
            <a:ext cx="13183886" cy="839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  <a:p>
            <a:pPr algn="ctr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POR</a:t>
            </a:r>
          </a:p>
          <a:p>
            <a:pPr algn="ctr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 </a:t>
            </a:r>
          </a:p>
          <a:p>
            <a:pPr algn="ctr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ATENCION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DAHKED1MJaA</dc:identifier>
  <dcterms:modified xsi:type="dcterms:W3CDTF">2011-08-01T06:04:30Z</dcterms:modified>
  <cp:revision>1</cp:revision>
  <dc:title>Presentacion IA</dc:title>
</cp:coreProperties>
</file>